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114CFC-5A3F-46F3-9475-CF810E5E9499}">
  <a:tblStyle styleId="{AC114CFC-5A3F-46F3-9475-CF810E5E949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n"/>
          <p:cNvSpPr txBox="1"/>
          <p:nvPr>
            <p:ph idx="2" type="hdr"/>
          </p:nvPr>
        </p:nvSpPr>
        <p:spPr>
          <a:xfrm>
            <a:off x="0" y="0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n"/>
          <p:cNvSpPr txBox="1"/>
          <p:nvPr>
            <p:ph idx="10" type="dt"/>
          </p:nvPr>
        </p:nvSpPr>
        <p:spPr>
          <a:xfrm>
            <a:off x="4281488" y="0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n"/>
          <p:cNvSpPr/>
          <p:nvPr>
            <p:ph idx="3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n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n"/>
          <p:cNvSpPr txBox="1"/>
          <p:nvPr>
            <p:ph idx="11" type="ftr"/>
          </p:nvPr>
        </p:nvSpPr>
        <p:spPr>
          <a:xfrm>
            <a:off x="0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n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:notes"/>
          <p:cNvSpPr txBox="1"/>
          <p:nvPr>
            <p:ph idx="11" type="ftr"/>
          </p:nvPr>
        </p:nvSpPr>
        <p:spPr>
          <a:xfrm>
            <a:off x="0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5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5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idx="1" type="subTitle"/>
          </p:nvPr>
        </p:nvSpPr>
        <p:spPr>
          <a:xfrm>
            <a:off x="0" y="0"/>
            <a:ext cx="5486100" cy="4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8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8"/>
          <p:cNvSpPr txBox="1"/>
          <p:nvPr>
            <p:ph idx="3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9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9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9"/>
          <p:cNvSpPr txBox="1"/>
          <p:nvPr>
            <p:ph idx="3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10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10"/>
          <p:cNvSpPr txBox="1"/>
          <p:nvPr>
            <p:ph idx="3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1"/>
          <p:cNvSpPr txBox="1"/>
          <p:nvPr>
            <p:ph idx="1" type="body"/>
          </p:nvPr>
        </p:nvSpPr>
        <p:spPr>
          <a:xfrm>
            <a:off x="457200" y="160452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1"/>
          <p:cNvSpPr txBox="1"/>
          <p:nvPr>
            <p:ph idx="2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12"/>
          <p:cNvSpPr txBox="1"/>
          <p:nvPr>
            <p:ph idx="3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12"/>
          <p:cNvSpPr txBox="1"/>
          <p:nvPr>
            <p:ph idx="4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3"/>
          <p:cNvSpPr txBox="1"/>
          <p:nvPr>
            <p:ph idx="1" type="body"/>
          </p:nvPr>
        </p:nvSpPr>
        <p:spPr>
          <a:xfrm>
            <a:off x="45720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2" type="body"/>
          </p:nvPr>
        </p:nvSpPr>
        <p:spPr>
          <a:xfrm>
            <a:off x="323964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3" type="body"/>
          </p:nvPr>
        </p:nvSpPr>
        <p:spPr>
          <a:xfrm>
            <a:off x="602208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13"/>
          <p:cNvSpPr txBox="1"/>
          <p:nvPr>
            <p:ph idx="4" type="body"/>
          </p:nvPr>
        </p:nvSpPr>
        <p:spPr>
          <a:xfrm>
            <a:off x="45720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13"/>
          <p:cNvSpPr txBox="1"/>
          <p:nvPr>
            <p:ph idx="5" type="body"/>
          </p:nvPr>
        </p:nvSpPr>
        <p:spPr>
          <a:xfrm>
            <a:off x="323964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3"/>
          <p:cNvSpPr txBox="1"/>
          <p:nvPr>
            <p:ph idx="6" type="body"/>
          </p:nvPr>
        </p:nvSpPr>
        <p:spPr>
          <a:xfrm>
            <a:off x="602208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"/>
          <p:cNvSpPr/>
          <p:nvPr/>
        </p:nvSpPr>
        <p:spPr>
          <a:xfrm flipH="1" rot="10800000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2" name="Google Shape;122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23" name="Google Shape;123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125" name="Google Shape;125;p1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26" name="Google Shape;126;p1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28" name="Google Shape;12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29" name="Google Shape;129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131" name="Google Shape;131;p1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32" name="Google Shape;132;p1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34" name="Google Shape;13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6" name="Google Shape;136;p1"/>
          <p:cNvSpPr txBox="1"/>
          <p:nvPr>
            <p:ph idx="1" type="body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/>
        </p:nvSpPr>
        <p:spPr>
          <a:xfrm>
            <a:off x="0" y="1047108"/>
            <a:ext cx="9144000" cy="53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Presentation of CO-OP Project at Industry (Module-2) (22CS421)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Clinical Dynamics and Therapeutic Countermeasures for Nipah Virus: A Comprehensive Analysis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Names: Navneet Kaur Bajwa, Parth Mehta, Mukul Saini, Chander Kant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Roll No.: 2210990600, 2210990644, 2210990586, 2210991455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&lt;Dr. Preeti Saini&gt;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126903" y="347104"/>
            <a:ext cx="70314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Introduction: A Global Priority Pathogen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0" name="Google Shape;2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04" y="1543012"/>
            <a:ext cx="4804194" cy="342227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5"/>
          <p:cNvSpPr/>
          <p:nvPr/>
        </p:nvSpPr>
        <p:spPr>
          <a:xfrm>
            <a:off x="6021958" y="1134963"/>
            <a:ext cx="20184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is NiV?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5352604" y="997297"/>
            <a:ext cx="3564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Nipah virus (NiV) is a highly infectious zoonotic pathogen (genus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Henipavirus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first identified in Malaysia and Singapore in 1998. Transmission has since shifted to India and Bangladesh via direct bat-to-human contact and efficient human-to-human spread.</a:t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5352604" y="3185145"/>
            <a:ext cx="2646000" cy="919500"/>
          </a:xfrm>
          <a:prstGeom prst="roundRect">
            <a:avLst>
              <a:gd fmla="val 2241" name="adj"/>
            </a:avLst>
          </a:prstGeom>
          <a:solidFill>
            <a:srgbClr val="45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9326" y="2947988"/>
            <a:ext cx="171673" cy="13736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5"/>
          <p:cNvSpPr/>
          <p:nvPr/>
        </p:nvSpPr>
        <p:spPr>
          <a:xfrm>
            <a:off x="5667858" y="3350341"/>
            <a:ext cx="20622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Fatality Rate: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40–75%</a:t>
            </a: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No approved antiviral or vaccine currently exists.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5352604" y="4448665"/>
            <a:ext cx="35649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2025–2026 spillover events in Kerala, West Bengal, and Bangladesh demand urgent translation of experimental countermeasures into active interventions.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idx="1" type="subTitle"/>
          </p:nvPr>
        </p:nvSpPr>
        <p:spPr>
          <a:xfrm>
            <a:off x="231058" y="1988754"/>
            <a:ext cx="8347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Pathogenesis Analysis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Study molecular and cellular mechanisms of infection.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Epidemiological Assessment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recent outbreak patterns and transmission dynamics.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Strain Comparison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Malaysian strain (NiV-M) and Bangladesh strain (NiV-B).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Therapeutic Evaluation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Examine monoclonal antibodies and vaccine candidates.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Future Preparedness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surveillance systems and future clinical trial frameworks.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 txBox="1"/>
          <p:nvPr>
            <p:ph type="title"/>
          </p:nvPr>
        </p:nvSpPr>
        <p:spPr>
          <a:xfrm>
            <a:off x="0" y="133856"/>
            <a:ext cx="2339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pic>
        <p:nvPicPr>
          <p:cNvPr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8851" y="3955207"/>
            <a:ext cx="4906297" cy="2656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219" name="Google Shape;219;p17"/>
          <p:cNvSpPr txBox="1"/>
          <p:nvPr>
            <p:ph idx="1" type="subTitle"/>
          </p:nvPr>
        </p:nvSpPr>
        <p:spPr>
          <a:xfrm>
            <a:off x="393289" y="3429000"/>
            <a:ext cx="76002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Systematic review conducted using: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reports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PubMed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BMJ Open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NCDC and ICMR surveillance data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Inclusion Criteria: Studies from 2015–2026 ≥100 confirmed cases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Validated genomic studies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 included: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Strain comparison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Clinical symptom evaluation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Epidemiological trend analysis.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systematic review synthesises epidemiological, clinical, and genomic data to evaluate NiV pathogenesis, strain divergence, viral kinetics, and the latest countermeasure pipeline.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>
            <a:off x="455563" y="4995267"/>
            <a:ext cx="5130900" cy="1031100"/>
          </a:xfrm>
          <a:prstGeom prst="roundRect">
            <a:avLst>
              <a:gd fmla="val 2826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 txBox="1"/>
          <p:nvPr>
            <p:ph type="title"/>
          </p:nvPr>
        </p:nvSpPr>
        <p:spPr>
          <a:xfrm>
            <a:off x="-1" y="0"/>
            <a:ext cx="66762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/>
              <a:t>Virology and Cellular Pathogenesis</a:t>
            </a:r>
            <a:endParaRPr sz="3000"/>
          </a:p>
        </p:txBody>
      </p:sp>
      <p:sp>
        <p:nvSpPr>
          <p:cNvPr id="226" name="Google Shape;226;p18"/>
          <p:cNvSpPr txBox="1"/>
          <p:nvPr>
            <p:ph idx="1" type="subTitle"/>
          </p:nvPr>
        </p:nvSpPr>
        <p:spPr>
          <a:xfrm flipH="1" rot="10800000">
            <a:off x="-924233" y="6528969"/>
            <a:ext cx="5013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455563" y="1165626"/>
            <a:ext cx="5130900" cy="979800"/>
          </a:xfrm>
          <a:prstGeom prst="roundRect">
            <a:avLst>
              <a:gd fmla="val 2826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585713" y="1261540"/>
            <a:ext cx="20682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Genome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585712" y="1553731"/>
            <a:ext cx="534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Single-stranded, negative-sense RNA ~18.2 kb encoding 6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structural proteins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455563" y="2471581"/>
            <a:ext cx="5130900" cy="870900"/>
          </a:xfrm>
          <a:prstGeom prst="roundRect">
            <a:avLst>
              <a:gd fmla="val 224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585713" y="2562403"/>
            <a:ext cx="20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Entry Mechanism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585712" y="2823010"/>
            <a:ext cx="4852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G protein binds ephrin-B2/B3 receptors on endothelial, respiratory, and neuronal cells — enabling systemic infection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455563" y="3594108"/>
            <a:ext cx="5130900" cy="1031100"/>
          </a:xfrm>
          <a:prstGeom prst="roundRect">
            <a:avLst>
              <a:gd fmla="val 2826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585713" y="3707768"/>
            <a:ext cx="20682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Immune Evasion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585712" y="4010160"/>
            <a:ext cx="5341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Viral P gene products suppress host interferon signalling,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enabling rapid replication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585712" y="5154770"/>
            <a:ext cx="20682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Pathology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585712" y="5489324"/>
            <a:ext cx="48528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Microvascular destruction → thrombosis, ischemia, CNS inflammation; virus persists causing relapsing encephalitis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8" name="Google Shape;2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835742"/>
            <a:ext cx="3429000" cy="5889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Clinical Features</a:t>
            </a:r>
            <a:endParaRPr/>
          </a:p>
        </p:txBody>
      </p:sp>
      <p:graphicFrame>
        <p:nvGraphicFramePr>
          <p:cNvPr id="244" name="Google Shape;244;p19"/>
          <p:cNvGraphicFramePr/>
          <p:nvPr/>
        </p:nvGraphicFramePr>
        <p:xfrm>
          <a:off x="280219" y="1725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{AC114CFC-5A3F-46F3-9475-CF810E5E9499}</a:tableStyleId>
              </a:tblPr>
              <a:tblGrid>
                <a:gridCol w="4114800"/>
                <a:gridCol w="4114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Symptom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Prevalence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Fever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99%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Headache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Confusion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Altered Consciousness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Breathing Difficulty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58%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19"/>
          <p:cNvSpPr txBox="1"/>
          <p:nvPr>
            <p:ph idx="1" type="subTitle"/>
          </p:nvPr>
        </p:nvSpPr>
        <p:spPr>
          <a:xfrm>
            <a:off x="183979" y="1079339"/>
            <a:ext cx="3172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Major Symptoms Observed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19"/>
          <p:cNvPicPr preferRelativeResize="0"/>
          <p:nvPr/>
        </p:nvPicPr>
        <p:blipFill rotWithShape="1">
          <a:blip r:embed="rId3">
            <a:alphaModFix/>
          </a:blip>
          <a:srcRect b="0" l="5572" r="58731" t="0"/>
          <a:stretch/>
        </p:blipFill>
        <p:spPr>
          <a:xfrm>
            <a:off x="353961" y="4266449"/>
            <a:ext cx="1858297" cy="1943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62061" r="0" t="0"/>
          <a:stretch/>
        </p:blipFill>
        <p:spPr>
          <a:xfrm>
            <a:off x="2408725" y="4266449"/>
            <a:ext cx="2164877" cy="1943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/>
          <p:cNvPicPr preferRelativeResize="0"/>
          <p:nvPr/>
        </p:nvPicPr>
        <p:blipFill rotWithShape="1">
          <a:blip r:embed="rId4">
            <a:alphaModFix/>
          </a:blip>
          <a:srcRect b="0" l="1630" r="62379" t="0"/>
          <a:stretch/>
        </p:blipFill>
        <p:spPr>
          <a:xfrm>
            <a:off x="4778479" y="4266449"/>
            <a:ext cx="1858297" cy="1943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/>
          <p:cNvPicPr preferRelativeResize="0"/>
          <p:nvPr/>
        </p:nvPicPr>
        <p:blipFill rotWithShape="1">
          <a:blip r:embed="rId4">
            <a:alphaModFix/>
          </a:blip>
          <a:srcRect b="0" l="64009" r="0" t="0"/>
          <a:stretch/>
        </p:blipFill>
        <p:spPr>
          <a:xfrm>
            <a:off x="6872751" y="4266449"/>
            <a:ext cx="1942537" cy="1943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title"/>
          </p:nvPr>
        </p:nvSpPr>
        <p:spPr>
          <a:xfrm>
            <a:off x="0" y="0"/>
            <a:ext cx="64107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Strain Divergence (NiV-M vs NiV-B)</a:t>
            </a:r>
            <a:endParaRPr sz="3000"/>
          </a:p>
        </p:txBody>
      </p:sp>
      <p:sp>
        <p:nvSpPr>
          <p:cNvPr id="255" name="Google Shape;255;p20"/>
          <p:cNvSpPr txBox="1"/>
          <p:nvPr>
            <p:ph idx="1" type="subTitle"/>
          </p:nvPr>
        </p:nvSpPr>
        <p:spPr>
          <a:xfrm>
            <a:off x="-968477" y="4351375"/>
            <a:ext cx="3096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6" name="Google Shape;256;p20"/>
          <p:cNvGraphicFramePr/>
          <p:nvPr/>
        </p:nvGraphicFramePr>
        <p:xfrm>
          <a:off x="457200" y="130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{AC114CFC-5A3F-46F3-9475-CF810E5E9499}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Clinical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NiV-M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NiV-B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Cough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49%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Shortness of Breath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51%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Headache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87%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Moderate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Myoclonus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51%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Lower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8129" y="3274141"/>
            <a:ext cx="5053781" cy="3333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>
            <p:ph type="title"/>
          </p:nvPr>
        </p:nvSpPr>
        <p:spPr>
          <a:xfrm>
            <a:off x="-1" y="0"/>
            <a:ext cx="6440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Viral Kinetics &amp; Therapeutic Window</a:t>
            </a:r>
            <a:endParaRPr/>
          </a:p>
        </p:txBody>
      </p:sp>
      <p:sp>
        <p:nvSpPr>
          <p:cNvPr id="263" name="Google Shape;263;p21"/>
          <p:cNvSpPr txBox="1"/>
          <p:nvPr>
            <p:ph idx="1" type="subTitle"/>
          </p:nvPr>
        </p:nvSpPr>
        <p:spPr>
          <a:xfrm>
            <a:off x="580104" y="3156155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14041"/>
            <a:ext cx="9144000" cy="419873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270387" y="5314279"/>
            <a:ext cx="86031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Mortality is strongly associated with degree of neurological depression, autonomic dysregulation, and baseline viral load. Standardised supportive care protocols are essential for reliable clinical trial data across regions.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/>
          <p:nvPr>
            <p:ph type="title"/>
          </p:nvPr>
        </p:nvSpPr>
        <p:spPr>
          <a:xfrm>
            <a:off x="0" y="0"/>
            <a:ext cx="67056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en-US" sz="2900"/>
              <a:t>Epidemiological Evolution (2025–2026)</a:t>
            </a:r>
            <a:endParaRPr/>
          </a:p>
        </p:txBody>
      </p:sp>
      <p:sp>
        <p:nvSpPr>
          <p:cNvPr id="271" name="Google Shape;271;p22"/>
          <p:cNvSpPr txBox="1"/>
          <p:nvPr>
            <p:ph idx="1" type="subTitle"/>
          </p:nvPr>
        </p:nvSpPr>
        <p:spPr>
          <a:xfrm>
            <a:off x="299884" y="4090581"/>
            <a:ext cx="44292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Expansion into new regions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Nosocomial (hospital-acquired) transmission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Increased spillover events in India &amp; Bangladesh.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2" name="Google Shape;272;p22"/>
          <p:cNvGraphicFramePr/>
          <p:nvPr/>
        </p:nvGraphicFramePr>
        <p:xfrm>
          <a:off x="299884" y="1140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{AC114CFC-5A3F-46F3-9475-CF810E5E9499}</a:tableStyleId>
              </a:tblPr>
              <a:tblGrid>
                <a:gridCol w="1424050"/>
                <a:gridCol w="1424050"/>
                <a:gridCol w="1424050"/>
              </a:tblGrid>
              <a:tr h="35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Location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Cases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CFR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Malaysia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276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Bangladesh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300+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~67%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Kerala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West Bengal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Cluster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preencoded.png" id="273" name="Google Shape;2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7976" y="816077"/>
            <a:ext cx="4336024" cy="5850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Medical Countermeasures</a:t>
            </a:r>
            <a:endParaRPr/>
          </a:p>
        </p:txBody>
      </p:sp>
      <p:sp>
        <p:nvSpPr>
          <p:cNvPr id="279" name="Google Shape;279;p23"/>
          <p:cNvSpPr txBox="1"/>
          <p:nvPr>
            <p:ph type="title"/>
          </p:nvPr>
        </p:nvSpPr>
        <p:spPr>
          <a:xfrm flipH="1" rot="10800000">
            <a:off x="-1101213" y="2677023"/>
            <a:ext cx="8160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sz="100"/>
          </a:p>
        </p:txBody>
      </p:sp>
      <p:pic>
        <p:nvPicPr>
          <p:cNvPr descr="preencoded.png" id="280" name="Google Shape;2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07" y="1161744"/>
            <a:ext cx="3027717" cy="187121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/>
          <p:nvPr/>
        </p:nvSpPr>
        <p:spPr>
          <a:xfrm>
            <a:off x="355907" y="3287792"/>
            <a:ext cx="2937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Hu1F5 Monoclonal Antibody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355907" y="3697729"/>
            <a:ext cx="39585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Targets F glycoprotein in its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pre-fusion state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blocking viral entry and syncytia formation.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survival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non-human primate studies. CEPI-supported Phase 1b/2a trials launching in India and Bangladesh.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2413" y="1042219"/>
            <a:ext cx="3390205" cy="187121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/>
          <p:nvPr/>
        </p:nvSpPr>
        <p:spPr>
          <a:xfrm>
            <a:off x="4662413" y="3216771"/>
            <a:ext cx="2703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ChAdOx1 NipahB Vaccine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4662413" y="3697729"/>
            <a:ext cx="39585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Replication-deficient chimpanzee adenovirus vector.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II trials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launched December 2025 (University of Oxford, Bangladesh). Serum Institute of India (SII) building a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100,000-dose reserve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ring vaccination deployment.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6" name="Google Shape;28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80" y="4305374"/>
            <a:ext cx="186779" cy="149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/>
          <p:nvPr>
            <p:ph type="title"/>
          </p:nvPr>
        </p:nvSpPr>
        <p:spPr>
          <a:xfrm>
            <a:off x="-1" y="0"/>
            <a:ext cx="63714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Surveillance &amp; One Health Approach</a:t>
            </a:r>
            <a:endParaRPr/>
          </a:p>
        </p:txBody>
      </p:sp>
      <p:sp>
        <p:nvSpPr>
          <p:cNvPr id="292" name="Google Shape;292;p24"/>
          <p:cNvSpPr txBox="1"/>
          <p:nvPr>
            <p:ph idx="1" type="subTitle"/>
          </p:nvPr>
        </p:nvSpPr>
        <p:spPr>
          <a:xfrm>
            <a:off x="265470" y="2971980"/>
            <a:ext cx="82887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Cohort Study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Longitudinal monitoring of 2000 patients.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90-day neurological follow-up.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Rapid Diagnostic Tools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RT-LAMP assays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Decentralized testing systems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Health Approach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Integrated coordination between: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healthcare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Wildlife surveillance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Agricultural management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98" name="Google Shape;298;p25"/>
          <p:cNvSpPr txBox="1"/>
          <p:nvPr>
            <p:ph idx="1" type="subTitle"/>
          </p:nvPr>
        </p:nvSpPr>
        <p:spPr>
          <a:xfrm>
            <a:off x="235974" y="2971980"/>
            <a:ext cx="80724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Summary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Nipah Virus is one of the most dangerous emerging zoonotic pathogens.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Dual respiratory and neurological tropism increases severity.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Recent outbreaks highlight urgent need for preparedness.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Vaccines and monoclonal antibodies offer promising future solutions.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Strengthen surveillance systems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 rapid diagnostics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 clinical protocols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Expand vaccine development program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/>
          <p:nvPr/>
        </p:nvSpPr>
        <p:spPr>
          <a:xfrm>
            <a:off x="1297577" y="2821578"/>
            <a:ext cx="6705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